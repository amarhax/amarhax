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019c775e44aa4" /><Relationship Type="http://schemas.openxmlformats.org/officeDocument/2006/relationships/extended-properties" Target="/docProps/app.xml" Id="Rd17b3aa14f334086" /><Relationship Type="http://schemas.openxmlformats.org/officeDocument/2006/relationships/officeDocument" Target="/ppt/presentation.xml" Id="R725af49061c94c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cccc05b41542f2"/>
  </p:sldMasterIdLst>
  <p:notesMasterIdLst>
    <p:notesMasterId xmlns:r="http://schemas.openxmlformats.org/officeDocument/2006/relationships" r:id="R1eec129373814a4d"/>
  </p:notesMasterIdLst>
  <p:sldIdLst>
    <p:sldId xmlns:r="http://schemas.openxmlformats.org/officeDocument/2006/relationships" id="256" r:id="R14274979dd2e437b"/>
    <p:sldId xmlns:r="http://schemas.openxmlformats.org/officeDocument/2006/relationships" id="257" r:id="R2f1f8bee1b604aa5"/>
    <p:sldId xmlns:r="http://schemas.openxmlformats.org/officeDocument/2006/relationships" id="258" r:id="R803f617c4b0c4f57"/>
    <p:sldId xmlns:r="http://schemas.openxmlformats.org/officeDocument/2006/relationships" id="259" r:id="Rffcf17876c4a47d0"/>
    <p:sldId xmlns:r="http://schemas.openxmlformats.org/officeDocument/2006/relationships" id="260" r:id="R450d554ae6864d86"/>
    <p:sldId xmlns:r="http://schemas.openxmlformats.org/officeDocument/2006/relationships" id="261" r:id="R59bb6aaaaa4f4608"/>
    <p:sldId xmlns:r="http://schemas.openxmlformats.org/officeDocument/2006/relationships" id="262" r:id="R90043ed7dbc94b68"/>
    <p:sldId xmlns:r="http://schemas.openxmlformats.org/officeDocument/2006/relationships" id="263" r:id="Rfb21ae4cf6f14f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6b0b292c724038" /><Relationship Type="http://schemas.openxmlformats.org/officeDocument/2006/relationships/slideMaster" Target="/ppt/slideMasters/slideMaster1.xml" Id="R48cccc05b41542f2" /><Relationship Type="http://schemas.openxmlformats.org/officeDocument/2006/relationships/notesMaster" Target="/ppt/notesMasters/notesMaster1.xml" Id="R1eec129373814a4d" /><Relationship Type="http://schemas.openxmlformats.org/officeDocument/2006/relationships/presProps" Target="/ppt/presProps.xml" Id="Rb878f80335a842e5" /><Relationship Type="http://schemas.openxmlformats.org/officeDocument/2006/relationships/tableStyles" Target="/ppt/tableStyles.xml" Id="Rad89edc2e3c441e2" /><Relationship Type="http://schemas.openxmlformats.org/officeDocument/2006/relationships/slide" Target="/ppt/slides/slide1.xml" Id="R14274979dd2e437b" /><Relationship Type="http://schemas.openxmlformats.org/officeDocument/2006/relationships/slide" Target="/ppt/slides/slide2.xml" Id="R2f1f8bee1b604aa5" /><Relationship Type="http://schemas.openxmlformats.org/officeDocument/2006/relationships/slide" Target="/ppt/slides/slide3.xml" Id="R803f617c4b0c4f57" /><Relationship Type="http://schemas.openxmlformats.org/officeDocument/2006/relationships/slide" Target="/ppt/slides/slide4.xml" Id="Rffcf17876c4a47d0" /><Relationship Type="http://schemas.openxmlformats.org/officeDocument/2006/relationships/slide" Target="/ppt/slides/slide5.xml" Id="R450d554ae6864d86" /><Relationship Type="http://schemas.openxmlformats.org/officeDocument/2006/relationships/slide" Target="/ppt/slides/slide6.xml" Id="R59bb6aaaaa4f4608" /><Relationship Type="http://schemas.openxmlformats.org/officeDocument/2006/relationships/slide" Target="/ppt/slides/slide7.xml" Id="R90043ed7dbc94b68" /><Relationship Type="http://schemas.openxmlformats.org/officeDocument/2006/relationships/slide" Target="/ppt/slides/slide8.xml" Id="Rfb21ae4cf6f1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8750add71d46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b326b7f9ac4165" /><Relationship Type="http://schemas.openxmlformats.org/officeDocument/2006/relationships/notesMaster" Target="/ppt/notesMasters/notesMaster1.xml" Id="R650428a987c048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097f6cafd24cd3" /><Relationship Type="http://schemas.openxmlformats.org/officeDocument/2006/relationships/notesMaster" Target="/ppt/notesMasters/notesMaster1.xml" Id="R94a29d375f96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6c1952ea424106" /><Relationship Type="http://schemas.openxmlformats.org/officeDocument/2006/relationships/notesMaster" Target="/ppt/notesMasters/notesMaster1.xml" Id="R1fee316115034c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ca2c262c164a23" /><Relationship Type="http://schemas.openxmlformats.org/officeDocument/2006/relationships/notesMaster" Target="/ppt/notesMasters/notesMaster1.xml" Id="Rf552bf6a358b46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c57a3e88e746ce" /><Relationship Type="http://schemas.openxmlformats.org/officeDocument/2006/relationships/notesMaster" Target="/ppt/notesMasters/notesMaster1.xml" Id="Rb349a6729eef46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94da2456b749a5" /><Relationship Type="http://schemas.openxmlformats.org/officeDocument/2006/relationships/notesMaster" Target="/ppt/notesMasters/notesMaster1.xml" Id="Rfd530d3da94140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073b71846d4b08" /><Relationship Type="http://schemas.openxmlformats.org/officeDocument/2006/relationships/notesMaster" Target="/ppt/notesMasters/notesMaster1.xml" Id="Re9246cfe399049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7904884cb84871" /><Relationship Type="http://schemas.openxmlformats.org/officeDocument/2006/relationships/notesMaster" Target="/ppt/notesMasters/notesMaster1.xml" Id="R2b7748c663d847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29 October 2026:</a:t>
            </a:r>
          </a:p>
          <a:p xmlns:a="http://schemas.openxmlformats.org/drawingml/2006/main">
            <a:r>
              <a:t>https://docs.mailcow.email/post_installation/firststeps-ssl/</a:t>
            </a:r>
          </a:p>
          <a:p xmlns:a="http://schemas.openxmlformats.org/drawingml/2006/main">
            <a:r>
              <a:t>https://www.rfc-editor.org/info/rfc7208/</a:t>
            </a:r>
          </a:p>
          <a:p xmlns:a="http://schemas.openxmlformats.org/drawingml/2006/main">
            <a:r>
              <a:t>https://www.rfc-editor.org/info/rfc9989/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sequence and acceptance criteria are proposed operational guidance. Adapt them to the deployed platform and approved change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29 October 2026:</a:t>
            </a:r>
          </a:p>
          <a:p xmlns:a="http://schemas.openxmlformats.org/drawingml/2006/main">
            <a:r>
              <a:t>https://docs.mailcow.email/post_installation/firststeps-ssl/</a:t>
            </a:r>
          </a:p>
          <a:p xmlns:a="http://schemas.openxmlformats.org/drawingml/2006/main">
            <a:r>
              <a:t>https://www.rfc-editor.org/info/rfc7208/</a:t>
            </a:r>
          </a:p>
          <a:p xmlns:a="http://schemas.openxmlformats.org/drawingml/2006/main">
            <a:r>
              <a:t>https://www.rfc-editor.org/info/rfc9989/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sequence and acceptance criteria are proposed operational guidance. Adapt them to the deployed platform and approved change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29 October 2026:</a:t>
            </a:r>
          </a:p>
          <a:p xmlns:a="http://schemas.openxmlformats.org/drawingml/2006/main">
            <a:r>
              <a:t>https://docs.mailcow.email/post_installation/firststeps-ssl/</a:t>
            </a:r>
          </a:p>
          <a:p xmlns:a="http://schemas.openxmlformats.org/drawingml/2006/main">
            <a:r>
              <a:t>https://www.rfc-editor.org/info/rfc7208/</a:t>
            </a:r>
          </a:p>
          <a:p xmlns:a="http://schemas.openxmlformats.org/drawingml/2006/main">
            <a:r>
              <a:t>https://www.rfc-editor.org/info/rfc9989/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sequence and acceptance criteria are proposed operational guidance. Adapt them to the deployed platform and approved change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29 October 2026:</a:t>
            </a:r>
          </a:p>
          <a:p xmlns:a="http://schemas.openxmlformats.org/drawingml/2006/main">
            <a:r>
              <a:t>https://docs.mailcow.email/post_installation/firststeps-ssl/</a:t>
            </a:r>
          </a:p>
          <a:p xmlns:a="http://schemas.openxmlformats.org/drawingml/2006/main">
            <a:r>
              <a:t>https://www.rfc-editor.org/info/rfc7208/</a:t>
            </a:r>
          </a:p>
          <a:p xmlns:a="http://schemas.openxmlformats.org/drawingml/2006/main">
            <a:r>
              <a:t>https://www.rfc-editor.org/info/rfc9989/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sequence and acceptance criteria are proposed operational guidance. Adapt them to the deployed platform and approved change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29 October 2026:</a:t>
            </a:r>
          </a:p>
          <a:p xmlns:a="http://schemas.openxmlformats.org/drawingml/2006/main">
            <a:r>
              <a:t>https://docs.mailcow.email/post_installation/firststeps-ssl/</a:t>
            </a:r>
          </a:p>
          <a:p xmlns:a="http://schemas.openxmlformats.org/drawingml/2006/main">
            <a:r>
              <a:t>https://www.rfc-editor.org/info/rfc7208/</a:t>
            </a:r>
          </a:p>
          <a:p xmlns:a="http://schemas.openxmlformats.org/drawingml/2006/main">
            <a:r>
              <a:t>https://www.rfc-editor.org/info/rfc9989/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SPF passing alone does not authenticate the visible From domain. DMARC checks alignment using SPF or DKIM.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29 October 2026:</a:t>
            </a:r>
          </a:p>
          <a:p xmlns:a="http://schemas.openxmlformats.org/drawingml/2006/main">
            <a:r>
              <a:t>https://docs.mailcow.email/post_installation/firststeps-ssl/</a:t>
            </a:r>
          </a:p>
          <a:p xmlns:a="http://schemas.openxmlformats.org/drawingml/2006/main">
            <a:r>
              <a:t>https://www.rfc-editor.org/info/rfc7208/</a:t>
            </a:r>
          </a:p>
          <a:p xmlns:a="http://schemas.openxmlformats.org/drawingml/2006/main">
            <a:r>
              <a:t>https://www.rfc-editor.org/info/rfc9989/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sequence and acceptance criteria are proposed operational guidance. Adapt them to the deployed platform and approved change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29 October 2026:</a:t>
            </a:r>
          </a:p>
          <a:p xmlns:a="http://schemas.openxmlformats.org/drawingml/2006/main">
            <a:r>
              <a:t>https://docs.mailcow.email/post_installation/firststeps-ssl/</a:t>
            </a:r>
          </a:p>
          <a:p xmlns:a="http://schemas.openxmlformats.org/drawingml/2006/main">
            <a:r>
              <a:t>https://www.rfc-editor.org/info/rfc7208/</a:t>
            </a:r>
          </a:p>
          <a:p xmlns:a="http://schemas.openxmlformats.org/drawingml/2006/main">
            <a:r>
              <a:t>https://www.rfc-editor.org/info/rfc9989/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sequence and acceptance criteria are proposed operational guidance. Adapt them to the deployed platform and approved change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29 October 2026:</a:t>
            </a:r>
          </a:p>
          <a:p xmlns:a="http://schemas.openxmlformats.org/drawingml/2006/main">
            <a:r>
              <a:t>https://docs.mailcow.email/post_installation/firststeps-ssl/</a:t>
            </a:r>
          </a:p>
          <a:p xmlns:a="http://schemas.openxmlformats.org/drawingml/2006/main">
            <a:r>
              <a:t>https://www.rfc-editor.org/info/rfc7208/</a:t>
            </a:r>
          </a:p>
          <a:p xmlns:a="http://schemas.openxmlformats.org/drawingml/2006/main">
            <a:r>
              <a:t>https://www.rfc-editor.org/info/rfc9989/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sequence and acceptance criteria are proposed operational guidance. Adapt them to the deployed platform and approved change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ef3b4070942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00f3719fc42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634939dca4f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c5b94311342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f597e522047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f76d713854e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9DE7C2-3B5B-41FD-943D-33F92157F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7B4C79-6719-49C1-8289-9D13D53920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411A6B-4BD0-4BAD-8D33-520DB3653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294036-A27D-483C-B57A-E3C44DA33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3F3FD2-B886-452F-A0B2-5C8E0E2F5A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E1810F-8DF7-4D01-8420-383F1FF41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81C630-5FFA-48B3-B55C-C0ECFF70E8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FEB8BF-590F-4028-AA3F-2C018DC32E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8BFDFD-7A21-4C57-9078-28B6BF74C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BA3830-308B-48E9-A852-7095343E12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a884ced2524290" /><Relationship Type="http://schemas.openxmlformats.org/officeDocument/2006/relationships/slideLayout" Target="/ppt/slideLayouts/slideLayout1.xml" Id="R78519ebf97664105" /><Relationship Type="http://schemas.openxmlformats.org/officeDocument/2006/relationships/slideLayout" Target="/ppt/slideLayouts/slideLayout2.xml" Id="R97479e46f374444b" /><Relationship Type="http://schemas.openxmlformats.org/officeDocument/2006/relationships/slideLayout" Target="/ppt/slideLayouts/slideLayout3.xml" Id="R2d3bb8afbafc43a3" /><Relationship Type="http://schemas.openxmlformats.org/officeDocument/2006/relationships/slideLayout" Target="/ppt/slideLayouts/slideLayout4.xml" Id="R96e55ddee75c4ff0" /><Relationship Type="http://schemas.openxmlformats.org/officeDocument/2006/relationships/slideLayout" Target="/ppt/slideLayouts/slideLayout5.xml" Id="R78501bff25ef48c4" /><Relationship Type="http://schemas.openxmlformats.org/officeDocument/2006/relationships/slideLayout" Target="/ppt/slideLayouts/slideLayout6.xml" Id="R1b746c02bd1447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519ebf97664105"/>
    <p:sldLayoutId xmlns:r="http://schemas.openxmlformats.org/officeDocument/2006/relationships" id="2147483650" r:id="R97479e46f374444b"/>
    <p:sldLayoutId xmlns:r="http://schemas.openxmlformats.org/officeDocument/2006/relationships" id="2147483651" r:id="R2d3bb8afbafc43a3"/>
    <p:sldLayoutId xmlns:r="http://schemas.openxmlformats.org/officeDocument/2006/relationships" id="2147483652" r:id="R96e55ddee75c4ff0"/>
    <p:sldLayoutId xmlns:r="http://schemas.openxmlformats.org/officeDocument/2006/relationships" id="2147483653" r:id="R78501bff25ef48c4"/>
    <p:sldLayoutId xmlns:r="http://schemas.openxmlformats.org/officeDocument/2006/relationships" id="2147483654" r:id="R1b746c02bd1447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888e41e424fdc" /><Relationship Type="http://schemas.openxmlformats.org/officeDocument/2006/relationships/notesSlide" Target="/ppt/notesSlides/notesSlide1.xml" Id="R5e3db2ce0e7a4d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819f106c64086" /><Relationship Type="http://schemas.openxmlformats.org/officeDocument/2006/relationships/notesSlide" Target="/ppt/notesSlides/notesSlide2.xml" Id="R6a2cacaaf6e94a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ce30ed0104be4" /><Relationship Type="http://schemas.openxmlformats.org/officeDocument/2006/relationships/notesSlide" Target="/ppt/notesSlides/notesSlide3.xml" Id="Rdf4f215b21ed4e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bf6eb94384684" /><Relationship Type="http://schemas.openxmlformats.org/officeDocument/2006/relationships/notesSlide" Target="/ppt/notesSlides/notesSlide4.xml" Id="Rbaa4985689ed44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8df8e05584806" /><Relationship Type="http://schemas.openxmlformats.org/officeDocument/2006/relationships/notesSlide" Target="/ppt/notesSlides/notesSlide5.xml" Id="R75919c13b1224b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e2128c87847f0" /><Relationship Type="http://schemas.openxmlformats.org/officeDocument/2006/relationships/notesSlide" Target="/ppt/notesSlides/notesSlide6.xml" Id="R8e3582d9650341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fc9d2e9d14065" /><Relationship Type="http://schemas.openxmlformats.org/officeDocument/2006/relationships/notesSlide" Target="/ppt/notesSlides/notesSlide7.xml" Id="R8909e9f9522e4f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d6cf18e1644e8" /><Relationship Type="http://schemas.openxmlformats.org/officeDocument/2006/relationships/notesSlide" Target="/ppt/notesSlides/notesSlide8.xml" Id="R4d6f364439614f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FAA230-0EFC-441B-A4AD-12BCBCF0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</a:defRPr>
            </a:defPPr>
            <a:lvl1pPr>
              <a:defRPr sz="4800" b="1">
                <a:solidFill>
                  <a:srgbClr val="FFFFFF"/>
                </a:solidFill>
              </a:defRPr>
            </a:lvl1pPr>
            <a:lvl2pPr>
              <a:defRPr sz="4800" b="1">
                <a:solidFill>
                  <a:srgbClr val="FFFFFF"/>
                </a:solidFill>
              </a:defRPr>
            </a:lvl2pPr>
            <a:lvl3pPr>
              <a:defRPr sz="4800" b="1">
                <a:solidFill>
                  <a:srgbClr val="FFFFFF"/>
                </a:solidFill>
              </a:defRPr>
            </a:lvl3pPr>
            <a:lvl4pPr>
              <a:defRPr sz="4800" b="1">
                <a:solidFill>
                  <a:srgbClr val="FFFFFF"/>
                </a:solidFill>
              </a:defRPr>
            </a:lvl4pPr>
            <a:lvl5pPr>
              <a:defRPr sz="4800" b="1">
                <a:solidFill>
                  <a:srgbClr val="FFFFFF"/>
                </a:solidFill>
              </a:defRPr>
            </a:lvl5pPr>
            <a:lvl6pPr>
              <a:defRPr sz="4800" b="1">
                <a:solidFill>
                  <a:srgbClr val="FFFFFF"/>
                </a:solidFill>
              </a:defRPr>
            </a:lvl6pPr>
            <a:lvl7pPr>
              <a:defRPr sz="4800" b="1">
                <a:solidFill>
                  <a:srgbClr val="FFFFFF"/>
                </a:solidFill>
              </a:defRPr>
            </a:lvl7pPr>
            <a:lvl8pPr>
              <a:defRPr sz="4800" b="1">
                <a:solidFill>
                  <a:srgbClr val="FFFFFF"/>
                </a:solidFill>
              </a:defRPr>
            </a:lvl8pPr>
            <a:lvl9pPr>
              <a:defRPr sz="4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Secure Enterprise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Mail Migration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4FF1BC-C9AD-4B7D-9A1D-B1EF5CDB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BEE7E9"/>
                </a:solidFill>
              </a:defRPr>
            </a:defPPr>
            <a:lvl1pPr>
              <a:defRPr sz="2250" b="0">
                <a:solidFill>
                  <a:srgbClr val="BEE7E9"/>
                </a:solidFill>
              </a:defRPr>
            </a:lvl1pPr>
            <a:lvl2pPr>
              <a:defRPr sz="2250" b="0">
                <a:solidFill>
                  <a:srgbClr val="BEE7E9"/>
                </a:solidFill>
              </a:defRPr>
            </a:lvl2pPr>
            <a:lvl3pPr>
              <a:defRPr sz="2250" b="0">
                <a:solidFill>
                  <a:srgbClr val="BEE7E9"/>
                </a:solidFill>
              </a:defRPr>
            </a:lvl3pPr>
            <a:lvl4pPr>
              <a:defRPr sz="2250" b="0">
                <a:solidFill>
                  <a:srgbClr val="BEE7E9"/>
                </a:solidFill>
              </a:defRPr>
            </a:lvl4pPr>
            <a:lvl5pPr>
              <a:defRPr sz="2250" b="0">
                <a:solidFill>
                  <a:srgbClr val="BEE7E9"/>
                </a:solidFill>
              </a:defRPr>
            </a:lvl5pPr>
            <a:lvl6pPr>
              <a:defRPr sz="2250" b="0">
                <a:solidFill>
                  <a:srgbClr val="BEE7E9"/>
                </a:solidFill>
              </a:defRPr>
            </a:lvl6pPr>
            <a:lvl7pPr>
              <a:defRPr sz="2250" b="0">
                <a:solidFill>
                  <a:srgbClr val="BEE7E9"/>
                </a:solidFill>
              </a:defRPr>
            </a:lvl7pPr>
            <a:lvl8pPr>
              <a:defRPr sz="2250" b="0">
                <a:solidFill>
                  <a:srgbClr val="BEE7E9"/>
                </a:solidFill>
              </a:defRPr>
            </a:lvl8pPr>
            <a:lvl9pPr>
              <a:defRPr sz="2250" b="0">
                <a:solidFill>
                  <a:srgbClr val="BEE7E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EE7E9"/>
                </a:solidFill>
              </a:defRPr>
            </a:pPr>
            <a:r>
              <a:rPr sz="2250" b="0">
                <a:solidFill>
                  <a:srgbClr val="BEE7E9"/>
                </a:solidFill>
              </a:rPr>
              <a:t>A practical Zimbra to Mailcow migration framework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F2C8F2C0-631C-4DC1-95C5-1AD6E017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Amar Nath Pandey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29 October 2026</a:t>
            </a:r>
          </a:p>
        </p:txBody>
      </p:sp>
    </p:spTree>
    <p:extLst>
      <p:ext uri="{BB962C8B-B14F-4D97-AF65-F5344CB8AC3E}">
        <p14:creationId xmlns:p14="http://schemas.microsoft.com/office/powerpoint/2010/main" val="332297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3BBBCEA-3B06-4CAD-84FB-40F2C840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B46"/>
                </a:solidFill>
              </a:defRPr>
            </a:defPPr>
            <a:lvl1pPr>
              <a:defRPr sz="3450" b="1">
                <a:solidFill>
                  <a:srgbClr val="102B46"/>
                </a:solidFill>
              </a:defRPr>
            </a:lvl1pPr>
            <a:lvl2pPr>
              <a:defRPr sz="3450" b="1">
                <a:solidFill>
                  <a:srgbClr val="102B46"/>
                </a:solidFill>
              </a:defRPr>
            </a:lvl2pPr>
            <a:lvl3pPr>
              <a:defRPr sz="3450" b="1">
                <a:solidFill>
                  <a:srgbClr val="102B46"/>
                </a:solidFill>
              </a:defRPr>
            </a:lvl3pPr>
            <a:lvl4pPr>
              <a:defRPr sz="3450" b="1">
                <a:solidFill>
                  <a:srgbClr val="102B46"/>
                </a:solidFill>
              </a:defRPr>
            </a:lvl4pPr>
            <a:lvl5pPr>
              <a:defRPr sz="3450" b="1">
                <a:solidFill>
                  <a:srgbClr val="102B46"/>
                </a:solidFill>
              </a:defRPr>
            </a:lvl5pPr>
            <a:lvl6pPr>
              <a:defRPr sz="3450" b="1">
                <a:solidFill>
                  <a:srgbClr val="102B46"/>
                </a:solidFill>
              </a:defRPr>
            </a:lvl6pPr>
            <a:lvl7pPr>
              <a:defRPr sz="3450" b="1">
                <a:solidFill>
                  <a:srgbClr val="102B46"/>
                </a:solidFill>
              </a:defRPr>
            </a:lvl7pPr>
            <a:lvl8pPr>
              <a:defRPr sz="3450" b="1">
                <a:solidFill>
                  <a:srgbClr val="102B46"/>
                </a:solidFill>
              </a:defRPr>
            </a:lvl8pPr>
            <a:lvl9pPr>
              <a:defRPr sz="34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46"/>
                </a:solidFill>
              </a:defRPr>
            </a:pPr>
            <a:r>
              <a:rPr sz="3450" b="1">
                <a:solidFill>
                  <a:srgbClr val="102B46"/>
                </a:solidFill>
              </a:rPr>
              <a:t>Migration scope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0A3479-28A9-491A-9507-91A9D634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</a:defRPr>
            </a:defPPr>
            <a:lvl1pPr>
              <a:defRPr sz="2175" b="1">
                <a:solidFill>
                  <a:srgbClr val="087F8C"/>
                </a:solidFill>
              </a:defRPr>
            </a:lvl1pPr>
            <a:lvl2pPr>
              <a:defRPr sz="2175" b="1">
                <a:solidFill>
                  <a:srgbClr val="087F8C"/>
                </a:solidFill>
              </a:defRPr>
            </a:lvl2pPr>
            <a:lvl3pPr>
              <a:defRPr sz="2175" b="1">
                <a:solidFill>
                  <a:srgbClr val="087F8C"/>
                </a:solidFill>
              </a:defRPr>
            </a:lvl3pPr>
            <a:lvl4pPr>
              <a:defRPr sz="2175" b="1">
                <a:solidFill>
                  <a:srgbClr val="087F8C"/>
                </a:solidFill>
              </a:defRPr>
            </a:lvl4pPr>
            <a:lvl5pPr>
              <a:defRPr sz="2175" b="1">
                <a:solidFill>
                  <a:srgbClr val="087F8C"/>
                </a:solidFill>
              </a:defRPr>
            </a:lvl5pPr>
            <a:lvl6pPr>
              <a:defRPr sz="2175" b="1">
                <a:solidFill>
                  <a:srgbClr val="087F8C"/>
                </a:solidFill>
              </a:defRPr>
            </a:lvl6pPr>
            <a:lvl7pPr>
              <a:defRPr sz="2175" b="1">
                <a:solidFill>
                  <a:srgbClr val="087F8C"/>
                </a:solidFill>
              </a:defRPr>
            </a:lvl7pPr>
            <a:lvl8pPr>
              <a:defRPr sz="2175" b="1">
                <a:solidFill>
                  <a:srgbClr val="087F8C"/>
                </a:solidFill>
              </a:defRPr>
            </a:lvl8pPr>
            <a:lvl9pPr>
              <a:defRPr sz="21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</a:defRPr>
            </a:pPr>
            <a:r>
              <a:rPr sz="2175" b="1">
                <a:solidFill>
                  <a:srgbClr val="087F8C"/>
                </a:solidFill>
              </a:rPr>
              <a:t>Mailboxes are only part of the move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102397F-CFD1-476C-9D57-355D669E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</a:defRPr>
            </a:defPPr>
            <a:lvl1pPr>
              <a:defRPr sz="2250" b="0">
                <a:solidFill>
                  <a:srgbClr val="17324D"/>
                </a:solidFill>
              </a:defRPr>
            </a:lvl1pPr>
            <a:lvl2pPr>
              <a:defRPr sz="2250" b="0">
                <a:solidFill>
                  <a:srgbClr val="17324D"/>
                </a:solidFill>
              </a:defRPr>
            </a:lvl2pPr>
            <a:lvl3pPr>
              <a:defRPr sz="2250" b="0">
                <a:solidFill>
                  <a:srgbClr val="17324D"/>
                </a:solidFill>
              </a:defRPr>
            </a:lvl3pPr>
            <a:lvl4pPr>
              <a:defRPr sz="2250" b="0">
                <a:solidFill>
                  <a:srgbClr val="17324D"/>
                </a:solidFill>
              </a:defRPr>
            </a:lvl4pPr>
            <a:lvl5pPr>
              <a:defRPr sz="2250" b="0">
                <a:solidFill>
                  <a:srgbClr val="17324D"/>
                </a:solidFill>
              </a:defRPr>
            </a:lvl5pPr>
            <a:lvl6pPr>
              <a:defRPr sz="2250" b="0">
                <a:solidFill>
                  <a:srgbClr val="17324D"/>
                </a:solidFill>
              </a:defRPr>
            </a:lvl6pPr>
            <a:lvl7pPr>
              <a:defRPr sz="2250" b="0">
                <a:solidFill>
                  <a:srgbClr val="17324D"/>
                </a:solidFill>
              </a:defRPr>
            </a:lvl7pPr>
            <a:lvl8pPr>
              <a:defRPr sz="2250" b="0">
                <a:solidFill>
                  <a:srgbClr val="17324D"/>
                </a:solidFill>
              </a:defRPr>
            </a:lvl8pPr>
            <a:lvl9pPr>
              <a:defRPr sz="22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Inventory accounts, aliases, quotas and application senders.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Track calendars, contacts, rules and shared access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Assign an owner to every exception before the delivery switch.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6BC309D-20A5-482C-8343-BC15433B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Amar Nath Pandey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B44A10-8723-493D-ADA3-61A98A27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0707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4B452E5-B073-4453-88D8-C49FBFA2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B46"/>
                </a:solidFill>
              </a:defRPr>
            </a:defPPr>
            <a:lvl1pPr>
              <a:defRPr sz="3450" b="1">
                <a:solidFill>
                  <a:srgbClr val="102B46"/>
                </a:solidFill>
              </a:defRPr>
            </a:lvl1pPr>
            <a:lvl2pPr>
              <a:defRPr sz="3450" b="1">
                <a:solidFill>
                  <a:srgbClr val="102B46"/>
                </a:solidFill>
              </a:defRPr>
            </a:lvl2pPr>
            <a:lvl3pPr>
              <a:defRPr sz="3450" b="1">
                <a:solidFill>
                  <a:srgbClr val="102B46"/>
                </a:solidFill>
              </a:defRPr>
            </a:lvl3pPr>
            <a:lvl4pPr>
              <a:defRPr sz="3450" b="1">
                <a:solidFill>
                  <a:srgbClr val="102B46"/>
                </a:solidFill>
              </a:defRPr>
            </a:lvl4pPr>
            <a:lvl5pPr>
              <a:defRPr sz="3450" b="1">
                <a:solidFill>
                  <a:srgbClr val="102B46"/>
                </a:solidFill>
              </a:defRPr>
            </a:lvl5pPr>
            <a:lvl6pPr>
              <a:defRPr sz="3450" b="1">
                <a:solidFill>
                  <a:srgbClr val="102B46"/>
                </a:solidFill>
              </a:defRPr>
            </a:lvl6pPr>
            <a:lvl7pPr>
              <a:defRPr sz="3450" b="1">
                <a:solidFill>
                  <a:srgbClr val="102B46"/>
                </a:solidFill>
              </a:defRPr>
            </a:lvl7pPr>
            <a:lvl8pPr>
              <a:defRPr sz="3450" b="1">
                <a:solidFill>
                  <a:srgbClr val="102B46"/>
                </a:solidFill>
              </a:defRPr>
            </a:lvl8pPr>
            <a:lvl9pPr>
              <a:defRPr sz="34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46"/>
                </a:solidFill>
              </a:defRPr>
            </a:pPr>
            <a:r>
              <a:rPr sz="3450" b="1">
                <a:solidFill>
                  <a:srgbClr val="102B46"/>
                </a:solidFill>
              </a:rPr>
              <a:t>Target readiness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984715-9D7D-443F-8CE7-BECDBF3B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</a:defRPr>
            </a:defPPr>
            <a:lvl1pPr>
              <a:defRPr sz="2175" b="1">
                <a:solidFill>
                  <a:srgbClr val="087F8C"/>
                </a:solidFill>
              </a:defRPr>
            </a:lvl1pPr>
            <a:lvl2pPr>
              <a:defRPr sz="2175" b="1">
                <a:solidFill>
                  <a:srgbClr val="087F8C"/>
                </a:solidFill>
              </a:defRPr>
            </a:lvl2pPr>
            <a:lvl3pPr>
              <a:defRPr sz="2175" b="1">
                <a:solidFill>
                  <a:srgbClr val="087F8C"/>
                </a:solidFill>
              </a:defRPr>
            </a:lvl3pPr>
            <a:lvl4pPr>
              <a:defRPr sz="2175" b="1">
                <a:solidFill>
                  <a:srgbClr val="087F8C"/>
                </a:solidFill>
              </a:defRPr>
            </a:lvl4pPr>
            <a:lvl5pPr>
              <a:defRPr sz="2175" b="1">
                <a:solidFill>
                  <a:srgbClr val="087F8C"/>
                </a:solidFill>
              </a:defRPr>
            </a:lvl5pPr>
            <a:lvl6pPr>
              <a:defRPr sz="2175" b="1">
                <a:solidFill>
                  <a:srgbClr val="087F8C"/>
                </a:solidFill>
              </a:defRPr>
            </a:lvl6pPr>
            <a:lvl7pPr>
              <a:defRPr sz="2175" b="1">
                <a:solidFill>
                  <a:srgbClr val="087F8C"/>
                </a:solidFill>
              </a:defRPr>
            </a:lvl7pPr>
            <a:lvl8pPr>
              <a:defRPr sz="2175" b="1">
                <a:solidFill>
                  <a:srgbClr val="087F8C"/>
                </a:solidFill>
              </a:defRPr>
            </a:lvl8pPr>
            <a:lvl9pPr>
              <a:defRPr sz="21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</a:defRPr>
            </a:pPr>
            <a:r>
              <a:rPr sz="2175" b="1">
                <a:solidFill>
                  <a:srgbClr val="087F8C"/>
                </a:solidFill>
              </a:rPr>
              <a:t>The pilot must prove the whole service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30EC769-A120-45FB-886A-6C40A549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</a:defRPr>
            </a:defPPr>
            <a:lvl1pPr>
              <a:defRPr sz="2250" b="0">
                <a:solidFill>
                  <a:srgbClr val="17324D"/>
                </a:solidFill>
              </a:defRPr>
            </a:lvl1pPr>
            <a:lvl2pPr>
              <a:defRPr sz="2250" b="0">
                <a:solidFill>
                  <a:srgbClr val="17324D"/>
                </a:solidFill>
              </a:defRPr>
            </a:lvl2pPr>
            <a:lvl3pPr>
              <a:defRPr sz="2250" b="0">
                <a:solidFill>
                  <a:srgbClr val="17324D"/>
                </a:solidFill>
              </a:defRPr>
            </a:lvl3pPr>
            <a:lvl4pPr>
              <a:defRPr sz="2250" b="0">
                <a:solidFill>
                  <a:srgbClr val="17324D"/>
                </a:solidFill>
              </a:defRPr>
            </a:lvl4pPr>
            <a:lvl5pPr>
              <a:defRPr sz="2250" b="0">
                <a:solidFill>
                  <a:srgbClr val="17324D"/>
                </a:solidFill>
              </a:defRPr>
            </a:lvl5pPr>
            <a:lvl6pPr>
              <a:defRPr sz="2250" b="0">
                <a:solidFill>
                  <a:srgbClr val="17324D"/>
                </a:solidFill>
              </a:defRPr>
            </a:lvl6pPr>
            <a:lvl7pPr>
              <a:defRPr sz="2250" b="0">
                <a:solidFill>
                  <a:srgbClr val="17324D"/>
                </a:solidFill>
              </a:defRPr>
            </a:lvl7pPr>
            <a:lvl8pPr>
              <a:defRPr sz="2250" b="0">
                <a:solidFill>
                  <a:srgbClr val="17324D"/>
                </a:solidFill>
              </a:defRPr>
            </a:lvl8pPr>
            <a:lvl9pPr>
              <a:defRPr sz="22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Validate hostname and certificates with real clients.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Test inbound mail, authenticated submission and IMAP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Confirm relay sender identities and restricted administrator access.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44129D0-4B6A-46EF-8549-4A75F69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Amar Nath Pandey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50CAC58-002F-401D-ACE8-CC51DC19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7826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E97735B-310A-43DD-A2BA-772855E3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B46"/>
                </a:solidFill>
              </a:defRPr>
            </a:defPPr>
            <a:lvl1pPr>
              <a:defRPr sz="3450" b="1">
                <a:solidFill>
                  <a:srgbClr val="102B46"/>
                </a:solidFill>
              </a:defRPr>
            </a:lvl1pPr>
            <a:lvl2pPr>
              <a:defRPr sz="3450" b="1">
                <a:solidFill>
                  <a:srgbClr val="102B46"/>
                </a:solidFill>
              </a:defRPr>
            </a:lvl2pPr>
            <a:lvl3pPr>
              <a:defRPr sz="3450" b="1">
                <a:solidFill>
                  <a:srgbClr val="102B46"/>
                </a:solidFill>
              </a:defRPr>
            </a:lvl3pPr>
            <a:lvl4pPr>
              <a:defRPr sz="3450" b="1">
                <a:solidFill>
                  <a:srgbClr val="102B46"/>
                </a:solidFill>
              </a:defRPr>
            </a:lvl4pPr>
            <a:lvl5pPr>
              <a:defRPr sz="3450" b="1">
                <a:solidFill>
                  <a:srgbClr val="102B46"/>
                </a:solidFill>
              </a:defRPr>
            </a:lvl5pPr>
            <a:lvl6pPr>
              <a:defRPr sz="3450" b="1">
                <a:solidFill>
                  <a:srgbClr val="102B46"/>
                </a:solidFill>
              </a:defRPr>
            </a:lvl6pPr>
            <a:lvl7pPr>
              <a:defRPr sz="3450" b="1">
                <a:solidFill>
                  <a:srgbClr val="102B46"/>
                </a:solidFill>
              </a:defRPr>
            </a:lvl7pPr>
            <a:lvl8pPr>
              <a:defRPr sz="3450" b="1">
                <a:solidFill>
                  <a:srgbClr val="102B46"/>
                </a:solidFill>
              </a:defRPr>
            </a:lvl8pPr>
            <a:lvl9pPr>
              <a:defRPr sz="34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46"/>
                </a:solidFill>
              </a:defRPr>
            </a:pPr>
            <a:r>
              <a:rPr sz="3450" b="1">
                <a:solidFill>
                  <a:srgbClr val="102B46"/>
                </a:solidFill>
              </a:rPr>
              <a:t>Migration sequence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A34890-5097-431D-836F-5A85B701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</a:defRPr>
            </a:defPPr>
            <a:lvl1pPr>
              <a:defRPr sz="2175" b="1">
                <a:solidFill>
                  <a:srgbClr val="087F8C"/>
                </a:solidFill>
              </a:defRPr>
            </a:lvl1pPr>
            <a:lvl2pPr>
              <a:defRPr sz="2175" b="1">
                <a:solidFill>
                  <a:srgbClr val="087F8C"/>
                </a:solidFill>
              </a:defRPr>
            </a:lvl2pPr>
            <a:lvl3pPr>
              <a:defRPr sz="2175" b="1">
                <a:solidFill>
                  <a:srgbClr val="087F8C"/>
                </a:solidFill>
              </a:defRPr>
            </a:lvl3pPr>
            <a:lvl4pPr>
              <a:defRPr sz="2175" b="1">
                <a:solidFill>
                  <a:srgbClr val="087F8C"/>
                </a:solidFill>
              </a:defRPr>
            </a:lvl4pPr>
            <a:lvl5pPr>
              <a:defRPr sz="2175" b="1">
                <a:solidFill>
                  <a:srgbClr val="087F8C"/>
                </a:solidFill>
              </a:defRPr>
            </a:lvl5pPr>
            <a:lvl6pPr>
              <a:defRPr sz="2175" b="1">
                <a:solidFill>
                  <a:srgbClr val="087F8C"/>
                </a:solidFill>
              </a:defRPr>
            </a:lvl6pPr>
            <a:lvl7pPr>
              <a:defRPr sz="2175" b="1">
                <a:solidFill>
                  <a:srgbClr val="087F8C"/>
                </a:solidFill>
              </a:defRPr>
            </a:lvl7pPr>
            <a:lvl8pPr>
              <a:defRPr sz="2175" b="1">
                <a:solidFill>
                  <a:srgbClr val="087F8C"/>
                </a:solidFill>
              </a:defRPr>
            </a:lvl8pPr>
            <a:lvl9pPr>
              <a:defRPr sz="21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</a:defRPr>
            </a:pPr>
            <a:r>
              <a:rPr sz="2175" b="1">
                <a:solidFill>
                  <a:srgbClr val="087F8C"/>
                </a:solidFill>
              </a:rPr>
              <a:t>Each stage needs an exit condition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DD6D18C-4253-42E0-80D6-7403F9DF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</a:defRPr>
            </a:defPPr>
            <a:lvl1pPr>
              <a:defRPr sz="2250" b="0">
                <a:solidFill>
                  <a:srgbClr val="17324D"/>
                </a:solidFill>
              </a:defRPr>
            </a:lvl1pPr>
            <a:lvl2pPr>
              <a:defRPr sz="2250" b="0">
                <a:solidFill>
                  <a:srgbClr val="17324D"/>
                </a:solidFill>
              </a:defRPr>
            </a:lvl2pPr>
            <a:lvl3pPr>
              <a:defRPr sz="2250" b="0">
                <a:solidFill>
                  <a:srgbClr val="17324D"/>
                </a:solidFill>
              </a:defRPr>
            </a:lvl3pPr>
            <a:lvl4pPr>
              <a:defRPr sz="2250" b="0">
                <a:solidFill>
                  <a:srgbClr val="17324D"/>
                </a:solidFill>
              </a:defRPr>
            </a:lvl4pPr>
            <a:lvl5pPr>
              <a:defRPr sz="2250" b="0">
                <a:solidFill>
                  <a:srgbClr val="17324D"/>
                </a:solidFill>
              </a:defRPr>
            </a:lvl5pPr>
            <a:lvl6pPr>
              <a:defRPr sz="2250" b="0">
                <a:solidFill>
                  <a:srgbClr val="17324D"/>
                </a:solidFill>
              </a:defRPr>
            </a:lvl6pPr>
            <a:lvl7pPr>
              <a:defRPr sz="2250" b="0">
                <a:solidFill>
                  <a:srgbClr val="17324D"/>
                </a:solidFill>
              </a:defRPr>
            </a:lvl7pPr>
            <a:lvl8pPr>
              <a:defRPr sz="2250" b="0">
                <a:solidFill>
                  <a:srgbClr val="17324D"/>
                </a:solidFill>
              </a:defRPr>
            </a:lvl8pPr>
            <a:lvl9pPr>
              <a:defRPr sz="22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1. Pilot representative users and large mailboxes</a:t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2. Copy mail and record results for every account</a:t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3. Reconcile the final incremental synchronisation</a:t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4. Change delivery routing in the approved window</a:t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5. Verify mail flow and obtain service acceptance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74959B8-58C1-49C0-8F9F-74CFA3E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Amar Nath Pandey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EDB91D-E621-4EBB-B396-E05B2821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0018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4C77E5E-980F-406D-8E79-979B7506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B46"/>
                </a:solidFill>
              </a:defRPr>
            </a:defPPr>
            <a:lvl1pPr>
              <a:defRPr sz="3450" b="1">
                <a:solidFill>
                  <a:srgbClr val="102B46"/>
                </a:solidFill>
              </a:defRPr>
            </a:lvl1pPr>
            <a:lvl2pPr>
              <a:defRPr sz="3450" b="1">
                <a:solidFill>
                  <a:srgbClr val="102B46"/>
                </a:solidFill>
              </a:defRPr>
            </a:lvl2pPr>
            <a:lvl3pPr>
              <a:defRPr sz="3450" b="1">
                <a:solidFill>
                  <a:srgbClr val="102B46"/>
                </a:solidFill>
              </a:defRPr>
            </a:lvl3pPr>
            <a:lvl4pPr>
              <a:defRPr sz="3450" b="1">
                <a:solidFill>
                  <a:srgbClr val="102B46"/>
                </a:solidFill>
              </a:defRPr>
            </a:lvl4pPr>
            <a:lvl5pPr>
              <a:defRPr sz="3450" b="1">
                <a:solidFill>
                  <a:srgbClr val="102B46"/>
                </a:solidFill>
              </a:defRPr>
            </a:lvl5pPr>
            <a:lvl6pPr>
              <a:defRPr sz="3450" b="1">
                <a:solidFill>
                  <a:srgbClr val="102B46"/>
                </a:solidFill>
              </a:defRPr>
            </a:lvl6pPr>
            <a:lvl7pPr>
              <a:defRPr sz="3450" b="1">
                <a:solidFill>
                  <a:srgbClr val="102B46"/>
                </a:solidFill>
              </a:defRPr>
            </a:lvl7pPr>
            <a:lvl8pPr>
              <a:defRPr sz="3450" b="1">
                <a:solidFill>
                  <a:srgbClr val="102B46"/>
                </a:solidFill>
              </a:defRPr>
            </a:lvl8pPr>
            <a:lvl9pPr>
              <a:defRPr sz="34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46"/>
                </a:solidFill>
              </a:defRPr>
            </a:pPr>
            <a:r>
              <a:rPr sz="3450" b="1">
                <a:solidFill>
                  <a:srgbClr val="102B46"/>
                </a:solidFill>
              </a:rPr>
              <a:t>Sender authentication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F4B811-4291-48A3-A817-2DC2250E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</a:defRPr>
            </a:defPPr>
            <a:lvl1pPr>
              <a:defRPr sz="2175" b="1">
                <a:solidFill>
                  <a:srgbClr val="087F8C"/>
                </a:solidFill>
              </a:defRPr>
            </a:lvl1pPr>
            <a:lvl2pPr>
              <a:defRPr sz="2175" b="1">
                <a:solidFill>
                  <a:srgbClr val="087F8C"/>
                </a:solidFill>
              </a:defRPr>
            </a:lvl2pPr>
            <a:lvl3pPr>
              <a:defRPr sz="2175" b="1">
                <a:solidFill>
                  <a:srgbClr val="087F8C"/>
                </a:solidFill>
              </a:defRPr>
            </a:lvl3pPr>
            <a:lvl4pPr>
              <a:defRPr sz="2175" b="1">
                <a:solidFill>
                  <a:srgbClr val="087F8C"/>
                </a:solidFill>
              </a:defRPr>
            </a:lvl4pPr>
            <a:lvl5pPr>
              <a:defRPr sz="2175" b="1">
                <a:solidFill>
                  <a:srgbClr val="087F8C"/>
                </a:solidFill>
              </a:defRPr>
            </a:lvl5pPr>
            <a:lvl6pPr>
              <a:defRPr sz="2175" b="1">
                <a:solidFill>
                  <a:srgbClr val="087F8C"/>
                </a:solidFill>
              </a:defRPr>
            </a:lvl6pPr>
            <a:lvl7pPr>
              <a:defRPr sz="2175" b="1">
                <a:solidFill>
                  <a:srgbClr val="087F8C"/>
                </a:solidFill>
              </a:defRPr>
            </a:lvl7pPr>
            <a:lvl8pPr>
              <a:defRPr sz="2175" b="1">
                <a:solidFill>
                  <a:srgbClr val="087F8C"/>
                </a:solidFill>
              </a:defRPr>
            </a:lvl8pPr>
            <a:lvl9pPr>
              <a:defRPr sz="21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</a:defRPr>
            </a:pPr>
            <a:r>
              <a:rPr sz="2175" b="1">
                <a:solidFill>
                  <a:srgbClr val="087F8C"/>
                </a:solidFill>
              </a:rPr>
              <a:t>Delivery evidence starts in message headers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BB674DD-6878-45E0-B32E-0A9CDA01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</a:defRPr>
            </a:defPPr>
            <a:lvl1pPr>
              <a:defRPr sz="2250" b="0">
                <a:solidFill>
                  <a:srgbClr val="17324D"/>
                </a:solidFill>
              </a:defRPr>
            </a:lvl1pPr>
            <a:lvl2pPr>
              <a:defRPr sz="2250" b="0">
                <a:solidFill>
                  <a:srgbClr val="17324D"/>
                </a:solidFill>
              </a:defRPr>
            </a:lvl2pPr>
            <a:lvl3pPr>
              <a:defRPr sz="2250" b="0">
                <a:solidFill>
                  <a:srgbClr val="17324D"/>
                </a:solidFill>
              </a:defRPr>
            </a:lvl3pPr>
            <a:lvl4pPr>
              <a:defRPr sz="2250" b="0">
                <a:solidFill>
                  <a:srgbClr val="17324D"/>
                </a:solidFill>
              </a:defRPr>
            </a:lvl4pPr>
            <a:lvl5pPr>
              <a:defRPr sz="2250" b="0">
                <a:solidFill>
                  <a:srgbClr val="17324D"/>
                </a:solidFill>
              </a:defRPr>
            </a:lvl5pPr>
            <a:lvl6pPr>
              <a:defRPr sz="2250" b="0">
                <a:solidFill>
                  <a:srgbClr val="17324D"/>
                </a:solidFill>
              </a:defRPr>
            </a:lvl6pPr>
            <a:lvl7pPr>
              <a:defRPr sz="2250" b="0">
                <a:solidFill>
                  <a:srgbClr val="17324D"/>
                </a:solidFill>
              </a:defRPr>
            </a:lvl7pPr>
            <a:lvl8pPr>
              <a:defRPr sz="2250" b="0">
                <a:solidFill>
                  <a:srgbClr val="17324D"/>
                </a:solidFill>
              </a:defRPr>
            </a:lvl8pPr>
            <a:lvl9pPr>
              <a:defRPr sz="22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SPF checks an SMTP envelope or HELO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DMARC requires SPF or DKIM to pass with domain alignment.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Validate every approved sender route before tightening policy.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36ED86-D267-4299-8C1C-D9FC1A28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Amar Nath Pandey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64FA10-7369-4EE5-8761-575BC247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569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12A903-6422-480E-856E-5F868D50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B46"/>
                </a:solidFill>
              </a:defRPr>
            </a:defPPr>
            <a:lvl1pPr>
              <a:defRPr sz="3450" b="1">
                <a:solidFill>
                  <a:srgbClr val="102B46"/>
                </a:solidFill>
              </a:defRPr>
            </a:lvl1pPr>
            <a:lvl2pPr>
              <a:defRPr sz="3450" b="1">
                <a:solidFill>
                  <a:srgbClr val="102B46"/>
                </a:solidFill>
              </a:defRPr>
            </a:lvl2pPr>
            <a:lvl3pPr>
              <a:defRPr sz="3450" b="1">
                <a:solidFill>
                  <a:srgbClr val="102B46"/>
                </a:solidFill>
              </a:defRPr>
            </a:lvl3pPr>
            <a:lvl4pPr>
              <a:defRPr sz="3450" b="1">
                <a:solidFill>
                  <a:srgbClr val="102B46"/>
                </a:solidFill>
              </a:defRPr>
            </a:lvl4pPr>
            <a:lvl5pPr>
              <a:defRPr sz="3450" b="1">
                <a:solidFill>
                  <a:srgbClr val="102B46"/>
                </a:solidFill>
              </a:defRPr>
            </a:lvl5pPr>
            <a:lvl6pPr>
              <a:defRPr sz="3450" b="1">
                <a:solidFill>
                  <a:srgbClr val="102B46"/>
                </a:solidFill>
              </a:defRPr>
            </a:lvl6pPr>
            <a:lvl7pPr>
              <a:defRPr sz="3450" b="1">
                <a:solidFill>
                  <a:srgbClr val="102B46"/>
                </a:solidFill>
              </a:defRPr>
            </a:lvl7pPr>
            <a:lvl8pPr>
              <a:defRPr sz="3450" b="1">
                <a:solidFill>
                  <a:srgbClr val="102B46"/>
                </a:solidFill>
              </a:defRPr>
            </a:lvl8pPr>
            <a:lvl9pPr>
              <a:defRPr sz="34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46"/>
                </a:solidFill>
              </a:defRPr>
            </a:pPr>
            <a:r>
              <a:rPr sz="3450" b="1">
                <a:solidFill>
                  <a:srgbClr val="102B46"/>
                </a:solidFill>
              </a:rPr>
              <a:t>Acceptance and recovery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DC4CE0-9DDA-4D87-A8D6-44D8CFA6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</a:defRPr>
            </a:defPPr>
            <a:lvl1pPr>
              <a:defRPr sz="2175" b="1">
                <a:solidFill>
                  <a:srgbClr val="087F8C"/>
                </a:solidFill>
              </a:defRPr>
            </a:lvl1pPr>
            <a:lvl2pPr>
              <a:defRPr sz="2175" b="1">
                <a:solidFill>
                  <a:srgbClr val="087F8C"/>
                </a:solidFill>
              </a:defRPr>
            </a:lvl2pPr>
            <a:lvl3pPr>
              <a:defRPr sz="2175" b="1">
                <a:solidFill>
                  <a:srgbClr val="087F8C"/>
                </a:solidFill>
              </a:defRPr>
            </a:lvl3pPr>
            <a:lvl4pPr>
              <a:defRPr sz="2175" b="1">
                <a:solidFill>
                  <a:srgbClr val="087F8C"/>
                </a:solidFill>
              </a:defRPr>
            </a:lvl4pPr>
            <a:lvl5pPr>
              <a:defRPr sz="2175" b="1">
                <a:solidFill>
                  <a:srgbClr val="087F8C"/>
                </a:solidFill>
              </a:defRPr>
            </a:lvl5pPr>
            <a:lvl6pPr>
              <a:defRPr sz="2175" b="1">
                <a:solidFill>
                  <a:srgbClr val="087F8C"/>
                </a:solidFill>
              </a:defRPr>
            </a:lvl6pPr>
            <a:lvl7pPr>
              <a:defRPr sz="2175" b="1">
                <a:solidFill>
                  <a:srgbClr val="087F8C"/>
                </a:solidFill>
              </a:defRPr>
            </a:lvl7pPr>
            <a:lvl8pPr>
              <a:defRPr sz="2175" b="1">
                <a:solidFill>
                  <a:srgbClr val="087F8C"/>
                </a:solidFill>
              </a:defRPr>
            </a:lvl8pPr>
            <a:lvl9pPr>
              <a:defRPr sz="21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</a:defRPr>
            </a:pPr>
            <a:r>
              <a:rPr sz="2175" b="1">
                <a:solidFill>
                  <a:srgbClr val="087F8C"/>
                </a:solidFill>
              </a:rPr>
              <a:t>Mailbox counts need context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A4DA3C1-A2E6-42A5-B150-0A0B4CD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</a:defRPr>
            </a:defPPr>
            <a:lvl1pPr>
              <a:defRPr sz="2250" b="0">
                <a:solidFill>
                  <a:srgbClr val="17324D"/>
                </a:solidFill>
              </a:defRPr>
            </a:lvl1pPr>
            <a:lvl2pPr>
              <a:defRPr sz="2250" b="0">
                <a:solidFill>
                  <a:srgbClr val="17324D"/>
                </a:solidFill>
              </a:defRPr>
            </a:lvl2pPr>
            <a:lvl3pPr>
              <a:defRPr sz="2250" b="0">
                <a:solidFill>
                  <a:srgbClr val="17324D"/>
                </a:solidFill>
              </a:defRPr>
            </a:lvl3pPr>
            <a:lvl4pPr>
              <a:defRPr sz="2250" b="0">
                <a:solidFill>
                  <a:srgbClr val="17324D"/>
                </a:solidFill>
              </a:defRPr>
            </a:lvl4pPr>
            <a:lvl5pPr>
              <a:defRPr sz="2250" b="0">
                <a:solidFill>
                  <a:srgbClr val="17324D"/>
                </a:solidFill>
              </a:defRPr>
            </a:lvl5pPr>
            <a:lvl6pPr>
              <a:defRPr sz="2250" b="0">
                <a:solidFill>
                  <a:srgbClr val="17324D"/>
                </a:solidFill>
              </a:defRPr>
            </a:lvl6pPr>
            <a:lvl7pPr>
              <a:defRPr sz="2250" b="0">
                <a:solidFill>
                  <a:srgbClr val="17324D"/>
                </a:solidFill>
              </a:defRPr>
            </a:lvl7pPr>
            <a:lvl8pPr>
              <a:defRPr sz="2250" b="0">
                <a:solidFill>
                  <a:srgbClr val="17324D"/>
                </a:solidFill>
              </a:defRPr>
            </a:lvl8pPr>
            <a:lvl9pPr>
              <a:defRPr sz="22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Compare folders, dates, flags and attachment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Test sent items, search, webmail and desktop clients.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Keep a restore test and a rollback plan that accounts for new mail.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D4D5C30-C34C-4CD1-8B40-A216D749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Amar Nath Pandey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1A5C24-D471-407D-A3BC-AD7AA4E7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19405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65911F9-5914-4C44-BE90-24145949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B46"/>
                </a:solidFill>
              </a:defRPr>
            </a:defPPr>
            <a:lvl1pPr>
              <a:defRPr sz="3450" b="1">
                <a:solidFill>
                  <a:srgbClr val="102B46"/>
                </a:solidFill>
              </a:defRPr>
            </a:lvl1pPr>
            <a:lvl2pPr>
              <a:defRPr sz="3450" b="1">
                <a:solidFill>
                  <a:srgbClr val="102B46"/>
                </a:solidFill>
              </a:defRPr>
            </a:lvl2pPr>
            <a:lvl3pPr>
              <a:defRPr sz="3450" b="1">
                <a:solidFill>
                  <a:srgbClr val="102B46"/>
                </a:solidFill>
              </a:defRPr>
            </a:lvl3pPr>
            <a:lvl4pPr>
              <a:defRPr sz="3450" b="1">
                <a:solidFill>
                  <a:srgbClr val="102B46"/>
                </a:solidFill>
              </a:defRPr>
            </a:lvl4pPr>
            <a:lvl5pPr>
              <a:defRPr sz="3450" b="1">
                <a:solidFill>
                  <a:srgbClr val="102B46"/>
                </a:solidFill>
              </a:defRPr>
            </a:lvl5pPr>
            <a:lvl6pPr>
              <a:defRPr sz="3450" b="1">
                <a:solidFill>
                  <a:srgbClr val="102B46"/>
                </a:solidFill>
              </a:defRPr>
            </a:lvl6pPr>
            <a:lvl7pPr>
              <a:defRPr sz="3450" b="1">
                <a:solidFill>
                  <a:srgbClr val="102B46"/>
                </a:solidFill>
              </a:defRPr>
            </a:lvl7pPr>
            <a:lvl8pPr>
              <a:defRPr sz="3450" b="1">
                <a:solidFill>
                  <a:srgbClr val="102B46"/>
                </a:solidFill>
              </a:defRPr>
            </a:lvl8pPr>
            <a:lvl9pPr>
              <a:defRPr sz="34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46"/>
                </a:solidFill>
              </a:defRPr>
            </a:pPr>
            <a:r>
              <a:rPr sz="3450" b="1">
                <a:solidFill>
                  <a:srgbClr val="102B46"/>
                </a:solidFill>
              </a:rPr>
              <a:t>Operational handover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31DE00-EA12-4AC6-AD7B-EC552B5F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</a:defRPr>
            </a:defPPr>
            <a:lvl1pPr>
              <a:defRPr sz="2175" b="1">
                <a:solidFill>
                  <a:srgbClr val="087F8C"/>
                </a:solidFill>
              </a:defRPr>
            </a:lvl1pPr>
            <a:lvl2pPr>
              <a:defRPr sz="2175" b="1">
                <a:solidFill>
                  <a:srgbClr val="087F8C"/>
                </a:solidFill>
              </a:defRPr>
            </a:lvl2pPr>
            <a:lvl3pPr>
              <a:defRPr sz="2175" b="1">
                <a:solidFill>
                  <a:srgbClr val="087F8C"/>
                </a:solidFill>
              </a:defRPr>
            </a:lvl3pPr>
            <a:lvl4pPr>
              <a:defRPr sz="2175" b="1">
                <a:solidFill>
                  <a:srgbClr val="087F8C"/>
                </a:solidFill>
              </a:defRPr>
            </a:lvl4pPr>
            <a:lvl5pPr>
              <a:defRPr sz="2175" b="1">
                <a:solidFill>
                  <a:srgbClr val="087F8C"/>
                </a:solidFill>
              </a:defRPr>
            </a:lvl5pPr>
            <a:lvl6pPr>
              <a:defRPr sz="2175" b="1">
                <a:solidFill>
                  <a:srgbClr val="087F8C"/>
                </a:solidFill>
              </a:defRPr>
            </a:lvl6pPr>
            <a:lvl7pPr>
              <a:defRPr sz="2175" b="1">
                <a:solidFill>
                  <a:srgbClr val="087F8C"/>
                </a:solidFill>
              </a:defRPr>
            </a:lvl7pPr>
            <a:lvl8pPr>
              <a:defRPr sz="2175" b="1">
                <a:solidFill>
                  <a:srgbClr val="087F8C"/>
                </a:solidFill>
              </a:defRPr>
            </a:lvl8pPr>
            <a:lvl9pPr>
              <a:defRPr sz="21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</a:defRPr>
            </a:pPr>
            <a:r>
              <a:rPr sz="2175" b="1">
                <a:solidFill>
                  <a:srgbClr val="087F8C"/>
                </a:solidFill>
              </a:rPr>
              <a:t>Ownership continues after cutover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70774C7-D97A-413A-A5B3-6E21E98F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</a:defRPr>
            </a:defPPr>
            <a:lvl1pPr>
              <a:defRPr sz="2250" b="0">
                <a:solidFill>
                  <a:srgbClr val="17324D"/>
                </a:solidFill>
              </a:defRPr>
            </a:lvl1pPr>
            <a:lvl2pPr>
              <a:defRPr sz="2250" b="0">
                <a:solidFill>
                  <a:srgbClr val="17324D"/>
                </a:solidFill>
              </a:defRPr>
            </a:lvl2pPr>
            <a:lvl3pPr>
              <a:defRPr sz="2250" b="0">
                <a:solidFill>
                  <a:srgbClr val="17324D"/>
                </a:solidFill>
              </a:defRPr>
            </a:lvl3pPr>
            <a:lvl4pPr>
              <a:defRPr sz="2250" b="0">
                <a:solidFill>
                  <a:srgbClr val="17324D"/>
                </a:solidFill>
              </a:defRPr>
            </a:lvl4pPr>
            <a:lvl5pPr>
              <a:defRPr sz="2250" b="0">
                <a:solidFill>
                  <a:srgbClr val="17324D"/>
                </a:solidFill>
              </a:defRPr>
            </a:lvl5pPr>
            <a:lvl6pPr>
              <a:defRPr sz="2250" b="0">
                <a:solidFill>
                  <a:srgbClr val="17324D"/>
                </a:solidFill>
              </a:defRPr>
            </a:lvl6pPr>
            <a:lvl7pPr>
              <a:defRPr sz="2250" b="0">
                <a:solidFill>
                  <a:srgbClr val="17324D"/>
                </a:solidFill>
              </a:defRPr>
            </a:lvl7pPr>
            <a:lvl8pPr>
              <a:defRPr sz="2250" b="0">
                <a:solidFill>
                  <a:srgbClr val="17324D"/>
                </a:solidFill>
              </a:defRPr>
            </a:lvl8pPr>
            <a:lvl9pPr>
              <a:defRPr sz="22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Assign certificate, backup, queue and capacity monitoring owners.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Revoke temporary migration access after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24D"/>
                </a:solidFill>
              </a:defRPr>
            </a:pPr>
            <a:r>
              <a:rPr sz="2250" b="0">
                <a:solidFill>
                  <a:srgbClr val="17324D"/>
                </a:solidFill>
              </a:rPr>
              <a:t>Retire the source only after the agreed retention period.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6172DE1-43DB-44C3-95BD-EE023DF6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Amar Nath Pandey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4AC26F0-A772-4F76-BDEF-1DAF8BCA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89865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E0C2EDB-7B67-46D3-B2CB-22706E1C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B46"/>
                </a:solidFill>
              </a:defRPr>
            </a:defPPr>
            <a:lvl1pPr>
              <a:defRPr sz="3450" b="1">
                <a:solidFill>
                  <a:srgbClr val="102B46"/>
                </a:solidFill>
              </a:defRPr>
            </a:lvl1pPr>
            <a:lvl2pPr>
              <a:defRPr sz="3450" b="1">
                <a:solidFill>
                  <a:srgbClr val="102B46"/>
                </a:solidFill>
              </a:defRPr>
            </a:lvl2pPr>
            <a:lvl3pPr>
              <a:defRPr sz="3450" b="1">
                <a:solidFill>
                  <a:srgbClr val="102B46"/>
                </a:solidFill>
              </a:defRPr>
            </a:lvl3pPr>
            <a:lvl4pPr>
              <a:defRPr sz="3450" b="1">
                <a:solidFill>
                  <a:srgbClr val="102B46"/>
                </a:solidFill>
              </a:defRPr>
            </a:lvl4pPr>
            <a:lvl5pPr>
              <a:defRPr sz="3450" b="1">
                <a:solidFill>
                  <a:srgbClr val="102B46"/>
                </a:solidFill>
              </a:defRPr>
            </a:lvl5pPr>
            <a:lvl6pPr>
              <a:defRPr sz="3450" b="1">
                <a:solidFill>
                  <a:srgbClr val="102B46"/>
                </a:solidFill>
              </a:defRPr>
            </a:lvl6pPr>
            <a:lvl7pPr>
              <a:defRPr sz="3450" b="1">
                <a:solidFill>
                  <a:srgbClr val="102B46"/>
                </a:solidFill>
              </a:defRPr>
            </a:lvl7pPr>
            <a:lvl8pPr>
              <a:defRPr sz="3450" b="1">
                <a:solidFill>
                  <a:srgbClr val="102B46"/>
                </a:solidFill>
              </a:defRPr>
            </a:lvl8pPr>
            <a:lvl9pPr>
              <a:defRPr sz="34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46"/>
                </a:solidFill>
              </a:defRPr>
            </a:pPr>
            <a:r>
              <a:rPr sz="3450" b="1">
                <a:solidFill>
                  <a:srgbClr val="102B46"/>
                </a:solidFill>
              </a:rPr>
              <a:t>Reference material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6A5D3E-9AEF-40B7-A357-3236461D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</a:defRPr>
            </a:defPPr>
            <a:lvl1pPr>
              <a:defRPr sz="2175" b="1">
                <a:solidFill>
                  <a:srgbClr val="087F8C"/>
                </a:solidFill>
              </a:defRPr>
            </a:lvl1pPr>
            <a:lvl2pPr>
              <a:defRPr sz="2175" b="1">
                <a:solidFill>
                  <a:srgbClr val="087F8C"/>
                </a:solidFill>
              </a:defRPr>
            </a:lvl2pPr>
            <a:lvl3pPr>
              <a:defRPr sz="2175" b="1">
                <a:solidFill>
                  <a:srgbClr val="087F8C"/>
                </a:solidFill>
              </a:defRPr>
            </a:lvl3pPr>
            <a:lvl4pPr>
              <a:defRPr sz="2175" b="1">
                <a:solidFill>
                  <a:srgbClr val="087F8C"/>
                </a:solidFill>
              </a:defRPr>
            </a:lvl4pPr>
            <a:lvl5pPr>
              <a:defRPr sz="2175" b="1">
                <a:solidFill>
                  <a:srgbClr val="087F8C"/>
                </a:solidFill>
              </a:defRPr>
            </a:lvl5pPr>
            <a:lvl6pPr>
              <a:defRPr sz="2175" b="1">
                <a:solidFill>
                  <a:srgbClr val="087F8C"/>
                </a:solidFill>
              </a:defRPr>
            </a:lvl6pPr>
            <a:lvl7pPr>
              <a:defRPr sz="2175" b="1">
                <a:solidFill>
                  <a:srgbClr val="087F8C"/>
                </a:solidFill>
              </a:defRPr>
            </a:lvl7pPr>
            <a:lvl8pPr>
              <a:defRPr sz="2175" b="1">
                <a:solidFill>
                  <a:srgbClr val="087F8C"/>
                </a:solidFill>
              </a:defRPr>
            </a:lvl8pPr>
            <a:lvl9pPr>
              <a:defRPr sz="21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</a:defRPr>
            </a:pPr>
            <a:r>
              <a:rPr sz="2175" b="1">
                <a:solidFill>
                  <a:srgbClr val="087F8C"/>
                </a:solidFill>
              </a:rPr>
              <a:t>Practitioner guidance for infrastructure teams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2A73486-5834-452C-A57F-051FC4BA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Mailcow documentation: Advanced SSL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RFC 7208: Sender Policy Framework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RFC 9989: DMARC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This presentation describes a proposed operational framework.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It contains no client data or measured project results.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E02BF6-7B89-416E-A44D-E1751180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Amar Nath Pandey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B6727FB-2DB9-4DE0-8748-3133417A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4"/>
                </a:solidFill>
              </a:defRPr>
            </a:defPPr>
            <a:lvl1pPr>
              <a:defRPr sz="1200" b="0">
                <a:solidFill>
                  <a:srgbClr val="526474"/>
                </a:solidFill>
              </a:defRPr>
            </a:lvl1pPr>
            <a:lvl2pPr>
              <a:defRPr sz="1200" b="0">
                <a:solidFill>
                  <a:srgbClr val="526474"/>
                </a:solidFill>
              </a:defRPr>
            </a:lvl2pPr>
            <a:lvl3pPr>
              <a:defRPr sz="1200" b="0">
                <a:solidFill>
                  <a:srgbClr val="526474"/>
                </a:solidFill>
              </a:defRPr>
            </a:lvl3pPr>
            <a:lvl4pPr>
              <a:defRPr sz="1200" b="0">
                <a:solidFill>
                  <a:srgbClr val="526474"/>
                </a:solidFill>
              </a:defRPr>
            </a:lvl4pPr>
            <a:lvl5pPr>
              <a:defRPr sz="1200" b="0">
                <a:solidFill>
                  <a:srgbClr val="526474"/>
                </a:solidFill>
              </a:defRPr>
            </a:lvl5pPr>
            <a:lvl6pPr>
              <a:defRPr sz="1200" b="0">
                <a:solidFill>
                  <a:srgbClr val="526474"/>
                </a:solidFill>
              </a:defRPr>
            </a:lvl6pPr>
            <a:lvl7pPr>
              <a:defRPr sz="1200" b="0">
                <a:solidFill>
                  <a:srgbClr val="526474"/>
                </a:solidFill>
              </a:defRPr>
            </a:lvl7pPr>
            <a:lvl8pPr>
              <a:defRPr sz="1200" b="0">
                <a:solidFill>
                  <a:srgbClr val="526474"/>
                </a:solidFill>
              </a:defRPr>
            </a:lvl8pPr>
            <a:lvl9pPr>
              <a:defRPr sz="1200" b="0">
                <a:solidFill>
                  <a:srgbClr val="52647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4"/>
                </a:solidFill>
              </a:defRPr>
            </a:pPr>
            <a:r>
              <a:rPr sz="1200" b="0">
                <a:solidFill>
                  <a:srgbClr val="526474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704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2026-10-29T11:43:11.0540000Z</dcterms:created>
  <dcterms:modified xsi:type="dcterms:W3CDTF">2026-10-29T11:43:11.0540000Z</dcterms:modified>
</coreProperties>
</file>